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28E0-1772-467F-9C08-F8FCD2B6A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C45A5-D05D-475B-83B4-6C6DE957D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2D295-242C-4252-81B4-CF8AF146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9CF88-F75D-4AE6-8A11-13BF7B19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9BAC3-D9CB-40D2-9B41-18C3015D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4D41-65FD-4DC6-BD7A-5F3AC46C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122E0-C5D2-4F74-808B-D4C8700A4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47C1B-76AD-40F5-AD52-0ABEAEA76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A2D9F-DB8D-49CD-B494-EFBAA872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ABAC-C93D-471D-8AF6-EE23FC71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5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6AD9-0937-4254-B40F-6806D33E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63AA5-EC36-4917-84CE-F897F76D3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EFC48-C353-4DDA-A8E4-5347FEB0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CD246-462B-470F-AD76-8C3F333E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1FF2-7C37-48B4-8EE9-7B7B485B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7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343C-6945-4BA2-9B04-D88223A3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9839E-9BDA-40FE-8224-7E49FE00C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760F0-A1C6-4CB9-AA47-469E52708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2277D-122C-4298-B736-A2FF3D25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0383E-7485-40DB-B44C-65A080BA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CAB18-710C-44A4-A77B-60E8A4C4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6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456C-D931-413D-9E06-3C77863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D5881-9E52-421F-95D3-BC911722F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B4789-3750-42B3-975E-8A9AC0399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0AB576-E461-4C4F-BF32-228ACFF85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2E063-F1B4-4F61-85B0-55B67156F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51F4C-B298-4FAA-94AC-04ED38CB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8F732-7331-4800-A1A8-D5FD13D7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9AB3D-23F8-45BB-935A-728DBD3E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5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6AF3-8C2E-4D04-8EEB-0E594CCC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42B13-169A-4654-BD0D-FF456D8C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269A1-64A0-4553-8EF2-922D34D2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2A13-8589-43BD-97A7-AAB4565D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95E67-3490-4FB7-A72A-DFB2DC20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115B1-E04F-4847-9618-CBAB8D50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51F33-08AD-4A41-A6AB-7D4F040D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78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ED23-7A17-43A4-8F83-3EB45396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CA1A-978D-46FF-95E5-47F92E856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6F40-8108-4149-815D-0ADDADFD9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42E29-3F0C-4A3B-9E47-8EA337BC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3F38F-C89A-4772-A610-1A06A180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CC3E9-8E02-4125-98FB-A305204C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6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68D3-F21C-4291-BAA0-1D36C14F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8BE6F-2675-4EC4-B0D0-DA4EAAE6E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FFD39-D89A-4CA5-9329-DBE40086A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DBB84-8AE3-48C6-AF8D-240DE484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708AD-25E1-4AB2-B893-B0A18D82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8C3BC-6471-4525-AAE0-F64CCF30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F327-238A-4D37-BD34-9BF18EB1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0CFE9-801C-4025-BDBE-7C4872661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67867-6F04-4E13-AE39-F6CAED5F0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2AC43-7583-4DA6-A66C-56B2FB63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4B334-3BB3-4B0E-A535-5F052CE9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5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2E2FD-0C47-4703-BEC1-967A7F6FF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44AFD-1F9D-465C-A888-0062907D7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63D6-AA87-4485-8A9D-B294A109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4E9AA-F27D-4139-AEF4-F5AB51CF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3D77-9600-4B4B-BD5F-E343A07CC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4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9681F8-3123-477F-8D23-2CAE68CE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57E14-9A1C-4EC2-B3FF-7559E9F3C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6DEB9-839F-4D23-BE4A-346629D66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5C730-E258-4490-A045-A017BD6DE16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970A8-C937-4D9B-98AF-F5D8D816A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7BFC1-5ADD-457D-85CE-F6DF06ABC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1379-4709-40F2-853A-00B9B48A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1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9D25361C-E586-41EF-9731-55F24010B92D}"/>
              </a:ext>
            </a:extLst>
          </p:cNvPr>
          <p:cNvSpPr>
            <a:spLocks noGrp="1"/>
          </p:cNvSpPr>
          <p:nvPr/>
        </p:nvSpPr>
        <p:spPr>
          <a:xfrm>
            <a:off x="312262" y="104801"/>
            <a:ext cx="9912393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Implications for systematic conservation and bioeconomic planning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FF8628-66E2-493A-B02A-813DCB2C5469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4" t="76480" r="41310" b="14624"/>
          <a:stretch/>
        </p:blipFill>
        <p:spPr bwMode="auto">
          <a:xfrm>
            <a:off x="507399" y="5087303"/>
            <a:ext cx="1771805" cy="8980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F9F92E-40C3-4F2C-8643-BD0BCEC1333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00" t="76274" r="2634" b="15758"/>
          <a:stretch/>
        </p:blipFill>
        <p:spPr bwMode="auto">
          <a:xfrm>
            <a:off x="2337109" y="5134182"/>
            <a:ext cx="2095500" cy="8042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AE09DA-B97F-4E73-827A-CDC34BB198B1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7" t="77528" r="72236" b="19533"/>
          <a:stretch/>
        </p:blipFill>
        <p:spPr bwMode="auto">
          <a:xfrm>
            <a:off x="507089" y="770173"/>
            <a:ext cx="1500409" cy="2967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A7CAA6-C80C-42DF-9F39-2A51FEA6CAD1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6" t="81051" r="73093" b="16010"/>
          <a:stretch/>
        </p:blipFill>
        <p:spPr bwMode="auto">
          <a:xfrm>
            <a:off x="1931302" y="752683"/>
            <a:ext cx="1654370" cy="2967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1D9826-B2BE-4145-906B-8948B6F3848F}"/>
              </a:ext>
            </a:extLst>
          </p:cNvPr>
          <p:cNvSpPr txBox="1"/>
          <p:nvPr/>
        </p:nvSpPr>
        <p:spPr>
          <a:xfrm>
            <a:off x="4492100" y="572787"/>
            <a:ext cx="70088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32-km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supplyshed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313,962 ha (73% cropland)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and private planning goals: 72,656 ha cereal rye + 42,891 ha of prairie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facility biomass goal: 809 ha cereal rye yr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+ 809 ha prairie yr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AD technology expansion in region. 91 Animal Feedlot Operations (AFOs) with minimum manure production (EPA 2025).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Diversify farmer income portfolio (AD payments, environmental markets, and conservation payments)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A1A2D4-6A31-49BD-881F-871CA66B8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916020"/>
              </p:ext>
            </p:extLst>
          </p:nvPr>
        </p:nvGraphicFramePr>
        <p:xfrm>
          <a:off x="4445768" y="2388669"/>
          <a:ext cx="7008891" cy="4089470"/>
        </p:xfrm>
        <a:graphic>
          <a:graphicData uri="http://schemas.openxmlformats.org/drawingml/2006/table">
            <a:tbl>
              <a:tblPr firstRow="1" firstCol="1" bandRow="1"/>
              <a:tblGrid>
                <a:gridCol w="1292544">
                  <a:extLst>
                    <a:ext uri="{9D8B030D-6E8A-4147-A177-3AD203B41FA5}">
                      <a16:colId xmlns:a16="http://schemas.microsoft.com/office/drawing/2014/main" val="3521321233"/>
                    </a:ext>
                  </a:extLst>
                </a:gridCol>
                <a:gridCol w="1642110">
                  <a:extLst>
                    <a:ext uri="{9D8B030D-6E8A-4147-A177-3AD203B41FA5}">
                      <a16:colId xmlns:a16="http://schemas.microsoft.com/office/drawing/2014/main" val="70386264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878455151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28788882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028357704"/>
                    </a:ext>
                  </a:extLst>
                </a:gridCol>
                <a:gridCol w="1218007">
                  <a:extLst>
                    <a:ext uri="{9D8B030D-6E8A-4147-A177-3AD203B41FA5}">
                      <a16:colId xmlns:a16="http://schemas.microsoft.com/office/drawing/2014/main" val="188199008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Ecosystem Service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Iowa Nutrient Reduction Strategy +</a:t>
                      </a:r>
                      <a:b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Iowa Wildlife Action Plan Outcomes</a:t>
                      </a:r>
                      <a:endParaRPr lang="en-US" sz="1400" b="1" dirty="0">
                        <a:solidFill>
                          <a:srgbClr val="0E101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372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Rye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NRW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Sat Buff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Perennial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6327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en-US" sz="1400" baseline="-25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614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1,254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063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$ 51.79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$ 31.20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$ 7.65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$ 21.78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97558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Sediment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140,278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84,126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50,273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126,903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4115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$ 0.37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$ 0.40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$ 5.25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$0.44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91423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1400" baseline="-25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54,196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3,661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1,436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81,869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7706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$ 0.58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$ 6.23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$ 2.33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$ 0.68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4341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400" baseline="-250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8,468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1,046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23,391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0428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  </a:t>
                      </a: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1400" i="1" baseline="-250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eq</a:t>
                      </a: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$3.74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$ 21.81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$ 8.14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$ 0.89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5345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Biomass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Yield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276,565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11,456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9,331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256,160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292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MMBtu</a:t>
                      </a:r>
                      <a:r>
                        <a:rPr lang="en-US" sz="1400" i="1" baseline="300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$ 9.59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$ 155.02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$ 27.89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$ 10.01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3071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Wildlife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Core Patch (ha)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27,153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112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Habitat (ha)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6,654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790704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C70F093-8EBC-4A0E-90CD-AFF683E74B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" t="1519" r="2749" b="25739"/>
          <a:stretch/>
        </p:blipFill>
        <p:spPr>
          <a:xfrm>
            <a:off x="395779" y="1040134"/>
            <a:ext cx="4036830" cy="39905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288513-C0BB-4E08-9782-B71B784960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32" t="84951" r="18079" b="12888"/>
          <a:stretch/>
        </p:blipFill>
        <p:spPr>
          <a:xfrm>
            <a:off x="3529714" y="827794"/>
            <a:ext cx="729656" cy="206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BF603A-DA89-4FA1-BD3F-9E4A7E79C1C4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1" t="83727" r="83743" b="14009"/>
          <a:stretch/>
        </p:blipFill>
        <p:spPr bwMode="auto">
          <a:xfrm>
            <a:off x="492455" y="1222568"/>
            <a:ext cx="838200" cy="22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22356A-D963-458F-A0B0-EDE6F522C4FD}"/>
              </a:ext>
            </a:extLst>
          </p:cNvPr>
          <p:cNvSpPr txBox="1"/>
          <p:nvPr/>
        </p:nvSpPr>
        <p:spPr>
          <a:xfrm>
            <a:off x="395779" y="6474829"/>
            <a:ext cx="4386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Jessica Stephenson, John Tyndall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056592-D046-4AD2-8998-F2DDBF2084A5}"/>
              </a:ext>
            </a:extLst>
          </p:cNvPr>
          <p:cNvSpPr/>
          <p:nvPr/>
        </p:nvSpPr>
        <p:spPr>
          <a:xfrm>
            <a:off x="395779" y="752683"/>
            <a:ext cx="3990498" cy="5185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5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9D25361C-E586-41EF-9731-55F24010B92D}"/>
              </a:ext>
            </a:extLst>
          </p:cNvPr>
          <p:cNvSpPr>
            <a:spLocks noGrp="1"/>
          </p:cNvSpPr>
          <p:nvPr/>
        </p:nvSpPr>
        <p:spPr>
          <a:xfrm>
            <a:off x="312262" y="104801"/>
            <a:ext cx="9912393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Implications for systematic conservation and bioeconomic planning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FF8628-66E2-493A-B02A-813DCB2C5469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4" t="76480" r="41310" b="14624"/>
          <a:stretch/>
        </p:blipFill>
        <p:spPr bwMode="auto">
          <a:xfrm>
            <a:off x="507399" y="5087303"/>
            <a:ext cx="1771805" cy="8980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F9F92E-40C3-4F2C-8643-BD0BCEC1333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00" t="76274" r="2634" b="15758"/>
          <a:stretch/>
        </p:blipFill>
        <p:spPr bwMode="auto">
          <a:xfrm>
            <a:off x="2337109" y="5134182"/>
            <a:ext cx="2095500" cy="8042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AE09DA-B97F-4E73-827A-CDC34BB198B1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7" t="77528" r="72236" b="19533"/>
          <a:stretch/>
        </p:blipFill>
        <p:spPr bwMode="auto">
          <a:xfrm>
            <a:off x="507089" y="770173"/>
            <a:ext cx="1500409" cy="2967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A7CAA6-C80C-42DF-9F39-2A51FEA6CAD1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6" t="81051" r="73093" b="16010"/>
          <a:stretch/>
        </p:blipFill>
        <p:spPr bwMode="auto">
          <a:xfrm>
            <a:off x="1931302" y="752683"/>
            <a:ext cx="1654370" cy="2967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1D9826-B2BE-4145-906B-8948B6F3848F}"/>
              </a:ext>
            </a:extLst>
          </p:cNvPr>
          <p:cNvSpPr txBox="1"/>
          <p:nvPr/>
        </p:nvSpPr>
        <p:spPr>
          <a:xfrm>
            <a:off x="4492100" y="572787"/>
            <a:ext cx="70088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32-km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supplyshed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313,962 ha (73% cropland)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and private planning goals: 72,656 ha cereal rye + 42,891 ha of prairie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facility biomass goal: 809 ha cereal rye yr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+ 809 ha prairie yr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AD technology expansion in region. 91 Animal Feedlot Operations (AFOs) with minimum manure production (EPA 2025).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Diversify farmer income portfolio (AD payments, environmental markets, and conservation payments)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A1A2D4-6A31-49BD-881F-871CA66B8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129890"/>
              </p:ext>
            </p:extLst>
          </p:nvPr>
        </p:nvGraphicFramePr>
        <p:xfrm>
          <a:off x="4445768" y="2388669"/>
          <a:ext cx="7008891" cy="4089470"/>
        </p:xfrm>
        <a:graphic>
          <a:graphicData uri="http://schemas.openxmlformats.org/drawingml/2006/table">
            <a:tbl>
              <a:tblPr firstRow="1" firstCol="1" bandRow="1"/>
              <a:tblGrid>
                <a:gridCol w="1292544">
                  <a:extLst>
                    <a:ext uri="{9D8B030D-6E8A-4147-A177-3AD203B41FA5}">
                      <a16:colId xmlns:a16="http://schemas.microsoft.com/office/drawing/2014/main" val="3521321233"/>
                    </a:ext>
                  </a:extLst>
                </a:gridCol>
                <a:gridCol w="1642110">
                  <a:extLst>
                    <a:ext uri="{9D8B030D-6E8A-4147-A177-3AD203B41FA5}">
                      <a16:colId xmlns:a16="http://schemas.microsoft.com/office/drawing/2014/main" val="70386264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878455151"/>
                    </a:ext>
                  </a:extLst>
                </a:gridCol>
                <a:gridCol w="994410">
                  <a:extLst>
                    <a:ext uri="{9D8B030D-6E8A-4147-A177-3AD203B41FA5}">
                      <a16:colId xmlns:a16="http://schemas.microsoft.com/office/drawing/2014/main" val="228788882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1028357704"/>
                    </a:ext>
                  </a:extLst>
                </a:gridCol>
                <a:gridCol w="1218007">
                  <a:extLst>
                    <a:ext uri="{9D8B030D-6E8A-4147-A177-3AD203B41FA5}">
                      <a16:colId xmlns:a16="http://schemas.microsoft.com/office/drawing/2014/main" val="188199008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Ecosystem Service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Iowa Nutrient Reduction Strategy +</a:t>
                      </a:r>
                      <a:b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Iowa Wildlife Action Plan Outcomes</a:t>
                      </a:r>
                      <a:endParaRPr lang="en-US" sz="1400" b="1" dirty="0">
                        <a:solidFill>
                          <a:srgbClr val="0E101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372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Rye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NRW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Sat Buff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Perennial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6327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en-US" sz="1400" baseline="-25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Load Red.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063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$ 51.79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$ 31.20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$ 7.65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$ 21.78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97558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Sediment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4115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$ 0.37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$ 0.40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$ 5.25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$0.44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91423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1400" baseline="-25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54,196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3,661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1,436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81,869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7706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 baseline="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</a:t>
                      </a:r>
                      <a:r>
                        <a:rPr lang="en-US" sz="1400" i="1" baseline="-25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eq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$ 0.58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$ 6.23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$ 2.33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$ 0.68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4341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400" baseline="-250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Load Red.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8,468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1,046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23,391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0428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kg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  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1400" i="1" baseline="-25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eq</a:t>
                      </a: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$3.74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$ 21.81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$ 8.14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$ 0.89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5345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Biomass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Yield (Mg)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276,565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11,456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9,331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256,160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292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TCE ($ MMBtu</a:t>
                      </a:r>
                      <a:r>
                        <a:rPr lang="en-US" sz="1400" i="1" baseline="300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1400" i="1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$ 9.59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$ 155.02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$ 27.89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$ 10.01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3071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Wildlife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Core Patch (ha)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27,153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112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i="1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Habitat (ha)</a:t>
                      </a:r>
                      <a:r>
                        <a:rPr lang="en-US" sz="1400" i="1" baseline="300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solidFill>
                            <a:srgbClr val="0E101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6,654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790704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C70F093-8EBC-4A0E-90CD-AFF683E74B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" t="1519" r="2749" b="25739"/>
          <a:stretch/>
        </p:blipFill>
        <p:spPr>
          <a:xfrm>
            <a:off x="395779" y="1040134"/>
            <a:ext cx="4036830" cy="39905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288513-C0BB-4E08-9782-B71B784960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32" t="84951" r="18079" b="12888"/>
          <a:stretch/>
        </p:blipFill>
        <p:spPr>
          <a:xfrm>
            <a:off x="3529714" y="827794"/>
            <a:ext cx="729656" cy="206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BF603A-DA89-4FA1-BD3F-9E4A7E79C1C4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1" t="83727" r="83743" b="14009"/>
          <a:stretch/>
        </p:blipFill>
        <p:spPr bwMode="auto">
          <a:xfrm>
            <a:off x="492455" y="1222568"/>
            <a:ext cx="838200" cy="22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22356A-D963-458F-A0B0-EDE6F522C4FD}"/>
              </a:ext>
            </a:extLst>
          </p:cNvPr>
          <p:cNvSpPr txBox="1"/>
          <p:nvPr/>
        </p:nvSpPr>
        <p:spPr>
          <a:xfrm>
            <a:off x="395779" y="6474829"/>
            <a:ext cx="4386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Jessica Stephenson, John Tyndall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056592-D046-4AD2-8998-F2DDBF2084A5}"/>
              </a:ext>
            </a:extLst>
          </p:cNvPr>
          <p:cNvSpPr/>
          <p:nvPr/>
        </p:nvSpPr>
        <p:spPr>
          <a:xfrm>
            <a:off x="395779" y="752683"/>
            <a:ext cx="3990498" cy="5185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9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494</Words>
  <Application>Microsoft Office PowerPoint</Application>
  <PresentationFormat>Widescreen</PresentationFormat>
  <Paragraphs>160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Stephenson, Jessica A</dc:creator>
  <cp:lastModifiedBy>Stephenson, Jessica A</cp:lastModifiedBy>
  <cp:revision>9</cp:revision>
  <dcterms:created xsi:type="dcterms:W3CDTF">2026-04-07T03:10:29Z</dcterms:created>
  <dcterms:modified xsi:type="dcterms:W3CDTF">2026-04-07T19:22:55Z</dcterms:modified>
</cp:coreProperties>
</file>